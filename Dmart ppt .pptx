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7" r:id="rId14"/>
  </p:sldIdLst>
  <p:sldSz cx="14630400" cy="8229600"/>
  <p:notesSz cx="8229600" cy="14630400"/>
  <p:embeddedFontLst>
    <p:embeddedFont>
      <p:font typeface="ADLaM Display" panose="02010000000000000000" pitchFamily="2" charset="0"/>
      <p:regular r:id="rId17"/>
    </p:embeddedFont>
    <p:embeddedFont>
      <p:font typeface="Aptos" panose="020B0004020202020204" pitchFamily="3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atrick Hand" panose="00000500000000000000" pitchFamily="2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2" d="100"/>
          <a:sy n="42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0EA24B-0C4D-4256-F428-20471DE69E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94DDC-FDE0-597B-BD1C-8CC8D6708E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83195-79D8-49A0-8E4C-6F1A4D3F36A1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58DF0-5318-6D76-ECFF-F33279E2B2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5B520-AB35-227F-09D2-5E7C00E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97C8D-839E-47BD-8914-653E439EC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21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917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33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295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Dmart+Dataset_Tableau.csv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dmart.pb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8231" y="3704821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850" dirty="0" err="1">
                <a:solidFill>
                  <a:srgbClr val="383838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Dmart</a:t>
            </a:r>
            <a:r>
              <a:rPr lang="en-US" sz="3850" dirty="0">
                <a:solidFill>
                  <a:srgbClr val="383838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Sales Dashboard</a:t>
            </a:r>
            <a:endParaRPr lang="en-US" sz="38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94961" y="432409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Sales, Customer Behavior, Pricing &amp; Operations Analysis</a:t>
            </a:r>
            <a:endParaRPr lang="en-US" sz="1900" dirty="0"/>
          </a:p>
        </p:txBody>
      </p:sp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F3746508-E0D5-0B41-8550-8FFC92FAA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55926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1156" y="1532882"/>
            <a:ext cx="7415927" cy="1143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  <a:endParaRPr lang="en-US" sz="38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1156" y="2495651"/>
            <a:ext cx="13159535" cy="506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Patrick Hand" panose="00000500000000000000" pitchFamily="2" charset="0"/>
              </a:rPr>
              <a:t>This project is based on </a:t>
            </a:r>
            <a:r>
              <a:rPr lang="en-US" sz="2000" b="1" dirty="0">
                <a:latin typeface="Patrick Hand" panose="00000500000000000000" pitchFamily="2" charset="0"/>
              </a:rPr>
              <a:t>DMart’s Sales and the dataset are taken from Capstone Project</a:t>
            </a:r>
            <a:r>
              <a:rPr lang="en-US" sz="2000" dirty="0">
                <a:latin typeface="Patrick Hand" panose="00000500000000000000" pitchFamily="2" charset="0"/>
              </a:rPr>
              <a:t> provided by </a:t>
            </a:r>
            <a:r>
              <a:rPr lang="en-US" sz="2000" b="1" dirty="0">
                <a:latin typeface="Patrick Hand" panose="00000500000000000000" pitchFamily="2" charset="0"/>
              </a:rPr>
              <a:t>ITVedant</a:t>
            </a:r>
            <a:r>
              <a:rPr lang="en-US" sz="2000" dirty="0">
                <a:latin typeface="Patrick Hand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Patrick Hand" panose="00000500000000000000" pitchFamily="2" charset="0"/>
              </a:rPr>
              <a:t>The main goal is to use </a:t>
            </a:r>
            <a:r>
              <a:rPr lang="en-US" sz="2000" b="1" dirty="0">
                <a:latin typeface="Patrick Hand" panose="00000500000000000000" pitchFamily="2" charset="0"/>
              </a:rPr>
              <a:t>Power BI</a:t>
            </a:r>
            <a:r>
              <a:rPr lang="en-US" sz="2000" dirty="0">
                <a:latin typeface="Patrick Hand" panose="00000500000000000000" pitchFamily="2" charset="0"/>
              </a:rPr>
              <a:t> to study </a:t>
            </a:r>
            <a:r>
              <a:rPr lang="en-US" sz="2000" b="1" dirty="0">
                <a:latin typeface="Patrick Hand" panose="00000500000000000000" pitchFamily="2" charset="0"/>
              </a:rPr>
              <a:t>over 25,000 sales records</a:t>
            </a:r>
            <a:r>
              <a:rPr lang="en-US" sz="2000" dirty="0">
                <a:latin typeface="Patrick Hand" panose="00000500000000000000" pitchFamily="2" charset="0"/>
              </a:rPr>
              <a:t> and find useful insights that can help DMart make better business decisions.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Patrick Hand" panose="00000500000000000000" pitchFamily="2" charset="0"/>
              </a:rPr>
              <a:t>Key Focus Areas:</a:t>
            </a:r>
            <a:endParaRPr lang="en-US" sz="2000" dirty="0">
              <a:latin typeface="Patrick Hand" panose="00000500000000000000" pitchFamily="2" charset="0"/>
            </a:endParaRP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Patrick Hand" panose="00000500000000000000" pitchFamily="2" charset="0"/>
              </a:rPr>
              <a:t>To understand customer behavior — like their </a:t>
            </a:r>
            <a:r>
              <a:rPr lang="en-US" sz="2000" b="1" dirty="0">
                <a:latin typeface="Patrick Hand" panose="00000500000000000000" pitchFamily="2" charset="0"/>
              </a:rPr>
              <a:t>age, gender, and buying patterns</a:t>
            </a:r>
            <a:r>
              <a:rPr lang="en-US" sz="2000" dirty="0">
                <a:latin typeface="Patrick Hand" panose="00000500000000000000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Patrick Hand" panose="00000500000000000000" pitchFamily="2" charset="0"/>
              </a:rPr>
              <a:t>To find which </a:t>
            </a:r>
            <a:r>
              <a:rPr lang="en-US" sz="2000" b="1" dirty="0">
                <a:latin typeface="Patrick Hand" panose="00000500000000000000" pitchFamily="2" charset="0"/>
              </a:rPr>
              <a:t>products sell the most</a:t>
            </a:r>
            <a:r>
              <a:rPr lang="en-US" sz="2000" dirty="0">
                <a:latin typeface="Patrick Hand" panose="00000500000000000000" pitchFamily="2" charset="0"/>
              </a:rPr>
              <a:t> and bring the highest revenue.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Patrick Hand" panose="00000500000000000000" pitchFamily="2" charset="0"/>
              </a:rPr>
              <a:t>To check how well DMart’s operations work — including </a:t>
            </a:r>
            <a:r>
              <a:rPr lang="en-US" sz="2000" b="1" dirty="0">
                <a:latin typeface="Patrick Hand" panose="00000500000000000000" pitchFamily="2" charset="0"/>
              </a:rPr>
              <a:t>shipping, payments, and order status</a:t>
            </a:r>
            <a:r>
              <a:rPr lang="en-US" sz="2000" dirty="0">
                <a:latin typeface="Patrick Hand" panose="00000500000000000000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Patrick Hand" panose="00000500000000000000" pitchFamily="2" charset="0"/>
              </a:rPr>
              <a:t>To build an </a:t>
            </a:r>
            <a:r>
              <a:rPr lang="en-US" sz="2000" b="1" dirty="0">
                <a:latin typeface="Patrick Hand" panose="00000500000000000000" pitchFamily="2" charset="0"/>
              </a:rPr>
              <a:t>interactive Power BI dashboard</a:t>
            </a:r>
            <a:r>
              <a:rPr lang="en-US" sz="2000" dirty="0">
                <a:latin typeface="Patrick Hand" panose="00000500000000000000" pitchFamily="2" charset="0"/>
              </a:rPr>
              <a:t> that makes all this data easy to explore and understand.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Patrick Hand" panose="00000500000000000000" pitchFamily="2" charset="0"/>
              </a:rPr>
              <a:t>This analysis helps DMart improve </a:t>
            </a:r>
            <a:r>
              <a:rPr lang="en-US" sz="2000" b="1" dirty="0">
                <a:latin typeface="Patrick Hand" panose="00000500000000000000" pitchFamily="2" charset="0"/>
              </a:rPr>
              <a:t>sales performance</a:t>
            </a:r>
            <a:r>
              <a:rPr lang="en-US" sz="2000" dirty="0">
                <a:latin typeface="Patrick Hand" panose="00000500000000000000" pitchFamily="2" charset="0"/>
              </a:rPr>
              <a:t>, increase </a:t>
            </a:r>
            <a:r>
              <a:rPr lang="en-US" sz="2000" b="1" dirty="0">
                <a:latin typeface="Patrick Hand" panose="00000500000000000000" pitchFamily="2" charset="0"/>
              </a:rPr>
              <a:t>customer satisfaction</a:t>
            </a:r>
            <a:r>
              <a:rPr lang="en-US" sz="2000" dirty="0">
                <a:latin typeface="Patrick Hand" panose="00000500000000000000" pitchFamily="2" charset="0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Patrick Hand" panose="00000500000000000000" pitchFamily="2" charset="0"/>
              </a:rPr>
              <a:t>and make </a:t>
            </a:r>
            <a:r>
              <a:rPr lang="en-US" sz="2000" b="1" dirty="0">
                <a:latin typeface="Patrick Hand" panose="00000500000000000000" pitchFamily="2" charset="0"/>
              </a:rPr>
              <a:t>daily operations faster and more efficient</a:t>
            </a:r>
            <a:r>
              <a:rPr lang="en-US" sz="2000" dirty="0">
                <a:latin typeface="Patrick Hand" panose="00000500000000000000" pitchFamily="2" charset="0"/>
              </a:rPr>
              <a:t> with clear, real-time visual insights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>
              <a:latin typeface="Patrick Hand" panose="00000500000000000000" pitchFamily="2" charset="0"/>
            </a:endParaRPr>
          </a:p>
        </p:txBody>
      </p:sp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F3746508-E0D5-0B41-8550-8FFC92FA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5592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3642" y="491727"/>
            <a:ext cx="3916799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Objective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768440" y="1434227"/>
            <a:ext cx="6432233" cy="1865471"/>
          </a:xfrm>
          <a:prstGeom prst="roundRect">
            <a:avLst>
              <a:gd name="adj" fmla="val 440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292027" y="1771974"/>
            <a:ext cx="587454" cy="587454"/>
          </a:xfrm>
          <a:prstGeom prst="roundRect">
            <a:avLst>
              <a:gd name="adj" fmla="val 15563918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7092" y="1924655"/>
            <a:ext cx="264319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4167" y="2418997"/>
            <a:ext cx="195834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Sales &amp; Trends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97051" y="2854469"/>
            <a:ext cx="602551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Understand customer behavior patterns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78780" y="1398746"/>
            <a:ext cx="6432352" cy="1865471"/>
          </a:xfrm>
          <a:prstGeom prst="roundRect">
            <a:avLst>
              <a:gd name="adj" fmla="val 440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616309" y="1602105"/>
            <a:ext cx="587454" cy="587454"/>
          </a:xfrm>
          <a:prstGeom prst="roundRect">
            <a:avLst>
              <a:gd name="adj" fmla="val 15563918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707" y="1763553"/>
            <a:ext cx="264319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2139" y="2385298"/>
            <a:ext cx="195834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Drivers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616309" y="2747486"/>
            <a:ext cx="6025634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Identify key performance factors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82967" y="3965496"/>
            <a:ext cx="6432233" cy="1865471"/>
          </a:xfrm>
          <a:prstGeom prst="roundRect">
            <a:avLst>
              <a:gd name="adj" fmla="val 440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1086326" y="4168855"/>
            <a:ext cx="587454" cy="587454"/>
          </a:xfrm>
          <a:prstGeom prst="roundRect">
            <a:avLst>
              <a:gd name="adj" fmla="val 15563918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7894" y="4330303"/>
            <a:ext cx="264319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86326" y="4952048"/>
            <a:ext cx="195834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Fulfillment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86326" y="5314236"/>
            <a:ext cx="602551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Improve order efficiency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7582139" y="6817519"/>
            <a:ext cx="195834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616309" y="7179707"/>
            <a:ext cx="6025634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3F197A20-8076-1349-39C9-036191311053}"/>
              </a:ext>
            </a:extLst>
          </p:cNvPr>
          <p:cNvSpPr/>
          <p:nvPr/>
        </p:nvSpPr>
        <p:spPr>
          <a:xfrm>
            <a:off x="7518559" y="3973116"/>
            <a:ext cx="6432352" cy="1865471"/>
          </a:xfrm>
          <a:prstGeom prst="roundRect">
            <a:avLst>
              <a:gd name="adj" fmla="val 4409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517D51F2-372C-D1EA-8149-A574448A55BE}"/>
              </a:ext>
            </a:extLst>
          </p:cNvPr>
          <p:cNvSpPr/>
          <p:nvPr/>
        </p:nvSpPr>
        <p:spPr>
          <a:xfrm>
            <a:off x="7687748" y="4176475"/>
            <a:ext cx="587454" cy="587454"/>
          </a:xfrm>
          <a:prstGeom prst="roundRect">
            <a:avLst>
              <a:gd name="adj" fmla="val 15563918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AEDBD6F4-DEF6-F2E0-3B63-95DF3104EC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9316" y="4337923"/>
            <a:ext cx="264319" cy="264319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C4810B79-C10D-D343-9D89-72F5C7C88C40}"/>
              </a:ext>
            </a:extLst>
          </p:cNvPr>
          <p:cNvSpPr/>
          <p:nvPr/>
        </p:nvSpPr>
        <p:spPr>
          <a:xfrm>
            <a:off x="7687748" y="4959668"/>
            <a:ext cx="195834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Reduce Issues</a:t>
            </a:r>
            <a:endParaRPr lang="en-US" sz="15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FAEE079-81F8-6C34-2B10-E828C25B5544}"/>
              </a:ext>
            </a:extLst>
          </p:cNvPr>
          <p:cNvSpPr/>
          <p:nvPr/>
        </p:nvSpPr>
        <p:spPr>
          <a:xfrm>
            <a:off x="7721918" y="5321856"/>
            <a:ext cx="6025634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Lower cancellations &amp; pending orders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07865"/>
            <a:ext cx="5327590" cy="466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Performance Metrics</a:t>
            </a:r>
            <a:endParaRPr lang="en-US" sz="385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3190240"/>
            <a:ext cx="3230443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000" b="0" i="0" dirty="0">
                <a:solidFill>
                  <a:srgbClr val="383838"/>
                </a:solidFill>
                <a:effectLst/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₹ </a:t>
            </a: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3.20M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6568" y="4189947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Revenue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66710" y="3190240"/>
            <a:ext cx="3230571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4.3K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29362" y="4189947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Orders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69505" y="3190240"/>
            <a:ext cx="3230443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600" b="0" i="0" dirty="0">
                <a:solidFill>
                  <a:srgbClr val="383838"/>
                </a:solidFill>
                <a:effectLst/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₹</a:t>
            </a: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743.32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32037" y="4189947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Avg Order Value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72179" y="3190240"/>
            <a:ext cx="3230571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1.44%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34831" y="4189947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Cancellation Rate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66710" y="5239068"/>
            <a:ext cx="3230571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150.65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29362" y="6238774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Avg Delivery Days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69505" y="5239068"/>
            <a:ext cx="3230443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3.02</a:t>
            </a:r>
            <a:endParaRPr lang="en-US" sz="64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32037" y="6238774"/>
            <a:ext cx="2663795" cy="23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Avg Rating</a:t>
            </a:r>
            <a:endParaRPr lang="en-US" sz="1900" dirty="0">
              <a:latin typeface="Patrick Hand" panose="00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43370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Monthly Sales Trend</a:t>
            </a:r>
            <a:endParaRPr lang="en-US" sz="385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974336" y="247757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Insights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974336" y="3032998"/>
            <a:ext cx="479952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Peak sales in January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74336" y="3514368"/>
            <a:ext cx="479952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Steady growth trend observed is low from Jan to dec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74336" y="3995738"/>
            <a:ext cx="479952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Q1 performed more then Q2 by 28%</a:t>
            </a:r>
            <a:endParaRPr lang="en-US" sz="1900" dirty="0"/>
          </a:p>
        </p:txBody>
      </p:sp>
      <p:pic>
        <p:nvPicPr>
          <p:cNvPr id="9" name="Picture 8" descr="A blue line with white text&#10;&#10;Description automatically generated">
            <a:extLst>
              <a:ext uri="{FF2B5EF4-FFF2-40B4-BE49-F238E27FC236}">
                <a16:creationId xmlns:a16="http://schemas.microsoft.com/office/drawing/2014/main" id="{E9A23244-0308-DDB4-DE02-22F953B65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35" y="2108779"/>
            <a:ext cx="7877561" cy="4847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425887"/>
            <a:ext cx="3268385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by Product Category</a:t>
            </a:r>
            <a:endParaRPr lang="en-US" sz="2400" dirty="0"/>
          </a:p>
        </p:txBody>
      </p:sp>
      <p:pic>
        <p:nvPicPr>
          <p:cNvPr id="17" name="Picture 16" descr="A graph of a number of different sizes&#10;&#10;Description automatically generated with medium confidence">
            <a:extLst>
              <a:ext uri="{FF2B5EF4-FFF2-40B4-BE49-F238E27FC236}">
                <a16:creationId xmlns:a16="http://schemas.microsoft.com/office/drawing/2014/main" id="{540D1AD2-4C6D-9C76-5751-09AB851A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57" y="1520591"/>
            <a:ext cx="6095506" cy="4933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54298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Best Selling Products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9649539" y="228850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Performers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49539" y="2778789"/>
            <a:ext cx="412432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 5 products contribute </a:t>
            </a:r>
            <a:r>
              <a:rPr lang="en-US" sz="1900" b="1" dirty="0"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24%</a:t>
            </a:r>
            <a:r>
              <a:rPr lang="en-US" sz="1900" dirty="0"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of total revenue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649539" y="3304309"/>
            <a:ext cx="4197061" cy="904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Here we see sales on Monday is very high rather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then others</a:t>
            </a:r>
            <a:endParaRPr lang="en-US" sz="1900" dirty="0"/>
          </a:p>
        </p:txBody>
      </p:sp>
      <p:pic>
        <p:nvPicPr>
          <p:cNvPr id="14" name="Picture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84E3064-C3A1-D978-F4F7-9019B8DE7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265" y="4595575"/>
            <a:ext cx="5942148" cy="2960872"/>
          </a:xfrm>
          <a:prstGeom prst="rect">
            <a:avLst/>
          </a:prstGeom>
        </p:spPr>
      </p:pic>
      <p:pic>
        <p:nvPicPr>
          <p:cNvPr id="16" name="Picture 15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3C65A87A-38BA-41CB-4137-4D44FFDE1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04" y="2413416"/>
            <a:ext cx="6372225" cy="3492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07388"/>
            <a:ext cx="5945386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 Demographics Analysis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24159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Gender Distribution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23929" y="224159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Age Group Revenue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64037" y="682716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male customers drive 57% of revenue and Age 25-34 represents highest-value segment for personalized marketing.</a:t>
            </a:r>
            <a:endParaRPr lang="en-US" sz="1900" dirty="0"/>
          </a:p>
        </p:txBody>
      </p:sp>
      <p:pic>
        <p:nvPicPr>
          <p:cNvPr id="15" name="Picture 14" descr="A black and white circle with a black background&#10;&#10;Description automatically generated">
            <a:extLst>
              <a:ext uri="{FF2B5EF4-FFF2-40B4-BE49-F238E27FC236}">
                <a16:creationId xmlns:a16="http://schemas.microsoft.com/office/drawing/2014/main" id="{C9519AE3-5C90-5048-8383-7DB9951BA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9" y="3126290"/>
            <a:ext cx="6536154" cy="2393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DE795-1378-D385-D99D-C4CE03870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785" y="3007528"/>
            <a:ext cx="4982270" cy="3067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103" y="648295"/>
            <a:ext cx="4895255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Website &amp; Shopping Behavior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440299" y="3241477"/>
            <a:ext cx="289964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65%</a:t>
            </a:r>
            <a:endParaRPr lang="en-US" sz="4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92" y="1767958"/>
            <a:ext cx="3536275" cy="3536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1523" y="5599033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Engaged Session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25103" y="6035159"/>
            <a:ext cx="4130278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65% of 4,609 total sessions result in some 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865257" y="3241477"/>
            <a:ext cx="289964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10.04m</a:t>
            </a:r>
            <a:endParaRPr lang="en-US" sz="4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003" y="1673839"/>
            <a:ext cx="3536275" cy="3536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6481" y="5599033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Avg .Time on Site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50061" y="6035159"/>
            <a:ext cx="4130278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Longer sessions correlate with higher AOV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030994" y="3441976"/>
            <a:ext cx="289964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35%</a:t>
            </a:r>
            <a:endParaRPr lang="en-US" sz="4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680" y="1817251"/>
            <a:ext cx="3536275" cy="35362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61439" y="5599033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Bounce Rate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75019" y="6035159"/>
            <a:ext cx="4130278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Opportunity to reduce friction in journey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1178719" y="6942652"/>
            <a:ext cx="12485326" cy="829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0"/>
              </a:lnSpc>
            </a:pPr>
            <a:r>
              <a:rPr lang="en-US" sz="1850" b="1" dirty="0">
                <a:solidFill>
                  <a:srgbClr val="383838"/>
                </a:solidFill>
                <a:latin typeface="Patrick Hand" panose="00000500000000000000" pitchFamily="2" charset="0"/>
                <a:ea typeface="Patrick Hand" pitchFamily="34" charset="-122"/>
                <a:cs typeface="Patrick Hand" pitchFamily="34" charset="-120"/>
              </a:rPr>
              <a:t>Key Finding:</a:t>
            </a:r>
            <a:r>
              <a:rPr lang="en-US" sz="1850" dirty="0">
                <a:solidFill>
                  <a:srgbClr val="383838"/>
                </a:solidFill>
                <a:latin typeface="Patrick Hand" panose="00000500000000000000" pitchFamily="2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2000" dirty="0">
                <a:latin typeface="Patrick Hand" panose="00000500000000000000" pitchFamily="2" charset="0"/>
              </a:rPr>
              <a:t>More engagement directly translates to higher conversion rates. With </a:t>
            </a:r>
            <a:r>
              <a:rPr lang="en-US" sz="2000" b="1" dirty="0">
                <a:latin typeface="Patrick Hand" panose="00000500000000000000" pitchFamily="2" charset="0"/>
              </a:rPr>
              <a:t>4,609 total sessions</a:t>
            </a:r>
            <a:r>
              <a:rPr lang="en-US" sz="2000" dirty="0">
                <a:latin typeface="Patrick Hand" panose="00000500000000000000" pitchFamily="2" charset="0"/>
              </a:rPr>
              <a:t>, streamlining the user experience</a:t>
            </a:r>
          </a:p>
          <a:p>
            <a:pPr>
              <a:lnSpc>
                <a:spcPts val="2950"/>
              </a:lnSpc>
            </a:pPr>
            <a:r>
              <a:rPr lang="en-US" sz="2000" dirty="0">
                <a:latin typeface="Patrick Hand" panose="00000500000000000000" pitchFamily="2" charset="0"/>
              </a:rPr>
              <a:t> is crucial to reduce drop-offs and improve engagement.</a:t>
            </a:r>
          </a:p>
          <a:p>
            <a:pPr marL="0" indent="0" algn="l">
              <a:lnSpc>
                <a:spcPts val="2950"/>
              </a:lnSpc>
              <a:buNone/>
            </a:pPr>
            <a:endParaRPr lang="en-US" sz="1850" dirty="0">
              <a:latin typeface="Patrick Hand" panose="00000500000000000000" pitchFamily="2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25103" y="6677501"/>
            <a:ext cx="30480" cy="90749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811" y="1343739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Payment Mode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3724303" y="2326137"/>
            <a:ext cx="31676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Payment Mode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982790" y="732393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  <a:buSzPct val="100000"/>
            </a:pPr>
            <a:r>
              <a:rPr lang="en-US" sz="2000" dirty="0">
                <a:latin typeface="Patrick Hand" panose="00000500000000000000" pitchFamily="2" charset="0"/>
              </a:rPr>
              <a:t>Debit and Credit cards account for over 70% of transactions.</a:t>
            </a:r>
          </a:p>
          <a:p>
            <a:pPr algn="l">
              <a:lnSpc>
                <a:spcPts val="3100"/>
              </a:lnSpc>
              <a:buSzPct val="100000"/>
            </a:pPr>
            <a:endParaRPr lang="en-US" sz="1900" dirty="0">
              <a:latin typeface="Patrick Hand" panose="00000500000000000000" pitchFamily="2" charset="0"/>
            </a:endParaRPr>
          </a:p>
        </p:txBody>
      </p:sp>
      <p:pic>
        <p:nvPicPr>
          <p:cNvPr id="24" name="Picture 23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5B82CC86-F5DC-4F25-7915-0886D300C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444" y="2714723"/>
            <a:ext cx="4962525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377" y="725053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Shipping Mode &amp; Orders status</a:t>
            </a:r>
            <a:endParaRPr lang="en-US" sz="3850" dirty="0"/>
          </a:p>
        </p:txBody>
      </p:sp>
      <p:sp>
        <p:nvSpPr>
          <p:cNvPr id="12" name="Text 9"/>
          <p:cNvSpPr/>
          <p:nvPr/>
        </p:nvSpPr>
        <p:spPr>
          <a:xfrm>
            <a:off x="551212" y="6704339"/>
            <a:ext cx="7583796" cy="107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atrick Hand" panose="00000500000000000000" pitchFamily="2" charset="0"/>
              </a:rPr>
              <a:t>Priority Mode orders have a high demand because it is delivered in less days.</a:t>
            </a:r>
          </a:p>
          <a:p>
            <a:endParaRPr lang="en-US" sz="2000" dirty="0">
              <a:latin typeface="Patrick Hand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atrick Hand" panose="00000500000000000000" pitchFamily="2" charset="0"/>
              </a:rPr>
              <a:t>We need to focus on delivery the products in less time  to attract more 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03BEA684-3A09-DBF1-7430-388887A7B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1" y="2366312"/>
            <a:ext cx="6546636" cy="3941480"/>
          </a:xfrm>
          <a:prstGeom prst="rect">
            <a:avLst/>
          </a:prstGeom>
        </p:spPr>
      </p:pic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2FC7A406-1F77-FA87-37CE-E174AAFCC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255" y="2376108"/>
            <a:ext cx="4814318" cy="3669655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27D8035E-3FBA-878D-B0C4-F1ABEEEC3B9B}"/>
              </a:ext>
            </a:extLst>
          </p:cNvPr>
          <p:cNvSpPr/>
          <p:nvPr/>
        </p:nvSpPr>
        <p:spPr>
          <a:xfrm>
            <a:off x="9081655" y="6442310"/>
            <a:ext cx="5087008" cy="107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Patrick Hand" panose="00000500000000000000" pitchFamily="2" charset="0"/>
              </a:rPr>
              <a:t>Most are delivered on time we need to focus on cancelled and returned.</a:t>
            </a:r>
          </a:p>
        </p:txBody>
      </p:sp>
    </p:spTree>
    <p:extLst>
      <p:ext uri="{BB962C8B-B14F-4D97-AF65-F5344CB8AC3E}">
        <p14:creationId xmlns:p14="http://schemas.microsoft.com/office/powerpoint/2010/main" val="2102525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65785"/>
            <a:ext cx="45321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Data-Driven Recommendations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79" y="1491615"/>
            <a:ext cx="1028700" cy="1234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419" y="1697355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Improve Delivery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19419" y="2077879"/>
            <a:ext cx="1182588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Target 3-day delivery to reduce pending orders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79" y="2726055"/>
            <a:ext cx="1028700" cy="1234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19419" y="2931795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Push Online Payments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019419" y="3312319"/>
            <a:ext cx="1182588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Offer 5% cashback to shift from COD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9" y="3960495"/>
            <a:ext cx="1028700" cy="1234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9419" y="4166235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Stock Optimization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019419" y="4546759"/>
            <a:ext cx="1182588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Increase inventory for top 10 products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79" y="5194935"/>
            <a:ext cx="1028700" cy="12344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19419" y="5400675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Personalized Marketing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019419" y="5781199"/>
            <a:ext cx="11825883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Focus campaigns on 25-34 female segment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979" y="6429375"/>
            <a:ext cx="1028700" cy="12344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19419" y="6635115"/>
            <a:ext cx="2057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Optimize Discounts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2019420" y="7015639"/>
            <a:ext cx="3207208" cy="401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Reduce local category discounts by 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65785"/>
            <a:ext cx="45321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anose="00000500000000000000" pitchFamily="2" charset="0"/>
                <a:ea typeface="Patrick Hand" pitchFamily="34" charset="-122"/>
                <a:cs typeface="Patrick Hand" pitchFamily="34" charset="-120"/>
              </a:rPr>
              <a:t>Dataset</a:t>
            </a:r>
            <a:endParaRPr lang="en-US" sz="4000" dirty="0">
              <a:latin typeface="Patrick Hand" panose="00000500000000000000" pitchFamily="2" charset="0"/>
            </a:endParaRPr>
          </a:p>
        </p:txBody>
      </p:sp>
      <p:sp>
        <p:nvSpPr>
          <p:cNvPr id="18" name="Rectangle: Rounded Corners 17">
            <a:hlinkClick r:id="rId3" action="ppaction://hlinkfile"/>
            <a:extLst>
              <a:ext uri="{FF2B5EF4-FFF2-40B4-BE49-F238E27FC236}">
                <a16:creationId xmlns:a16="http://schemas.microsoft.com/office/drawing/2014/main" id="{81878155-BF80-3270-9EFC-3B272A5477FA}"/>
              </a:ext>
            </a:extLst>
          </p:cNvPr>
          <p:cNvSpPr/>
          <p:nvPr/>
        </p:nvSpPr>
        <p:spPr>
          <a:xfrm>
            <a:off x="4803226" y="1785924"/>
            <a:ext cx="3519892" cy="1081967"/>
          </a:xfrm>
          <a:prstGeom prst="roundRect">
            <a:avLst/>
          </a:prstGeom>
          <a:solidFill>
            <a:srgbClr val="F7F7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Patrick Hand" panose="00000500000000000000" pitchFamily="2" charset="0"/>
              </a:rPr>
              <a:t>D mart’s Dataset</a:t>
            </a:r>
          </a:p>
        </p:txBody>
      </p:sp>
      <p:sp>
        <p:nvSpPr>
          <p:cNvPr id="19" name="Rectangle: Rounded Corners 18">
            <a:hlinkClick r:id="rId4" action="ppaction://hlinkfile"/>
            <a:extLst>
              <a:ext uri="{FF2B5EF4-FFF2-40B4-BE49-F238E27FC236}">
                <a16:creationId xmlns:a16="http://schemas.microsoft.com/office/drawing/2014/main" id="{3AF5767C-0C82-9B0B-E6D1-22173692BED3}"/>
              </a:ext>
            </a:extLst>
          </p:cNvPr>
          <p:cNvSpPr/>
          <p:nvPr/>
        </p:nvSpPr>
        <p:spPr>
          <a:xfrm>
            <a:off x="4944977" y="3428812"/>
            <a:ext cx="3519891" cy="1081967"/>
          </a:xfrm>
          <a:prstGeom prst="roundRect">
            <a:avLst/>
          </a:prstGeom>
          <a:solidFill>
            <a:srgbClr val="F7F7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Patrick Hand" panose="00000500000000000000" pitchFamily="2" charset="0"/>
              </a:rPr>
              <a:t>Dashboard</a:t>
            </a:r>
          </a:p>
        </p:txBody>
      </p:sp>
      <p:pic>
        <p:nvPicPr>
          <p:cNvPr id="23" name="Picture 22" descr="A black background with text&#10;&#10;Description automatically generated">
            <a:extLst>
              <a:ext uri="{FF2B5EF4-FFF2-40B4-BE49-F238E27FC236}">
                <a16:creationId xmlns:a16="http://schemas.microsoft.com/office/drawing/2014/main" id="{18F848AB-0011-C422-E2F5-22F3D9906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923" y="3428812"/>
            <a:ext cx="2361303" cy="1229522"/>
          </a:xfrm>
          <a:prstGeom prst="rect">
            <a:avLst/>
          </a:prstGeom>
        </p:spPr>
      </p:pic>
      <p:pic>
        <p:nvPicPr>
          <p:cNvPr id="25" name="Picture 24" descr="A green square with a black x&#10;&#10;Description automatically generated">
            <a:extLst>
              <a:ext uri="{FF2B5EF4-FFF2-40B4-BE49-F238E27FC236}">
                <a16:creationId xmlns:a16="http://schemas.microsoft.com/office/drawing/2014/main" id="{CCB56BB4-302A-3C11-3E14-A33304E02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8940" y="1827496"/>
            <a:ext cx="1736037" cy="108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00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487</Words>
  <Application>Microsoft Office PowerPoint</Application>
  <PresentationFormat>Custom</PresentationFormat>
  <Paragraphs>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ADLaM Display</vt:lpstr>
      <vt:lpstr>Courier New</vt:lpstr>
      <vt:lpstr>Calibri</vt:lpstr>
      <vt:lpstr>Arial</vt:lpstr>
      <vt:lpstr>Patrick Hand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Puttoor Yuvaratna Reddy</cp:lastModifiedBy>
  <cp:revision>31</cp:revision>
  <dcterms:created xsi:type="dcterms:W3CDTF">2025-11-01T10:56:40Z</dcterms:created>
  <dcterms:modified xsi:type="dcterms:W3CDTF">2025-11-09T12:53:33Z</dcterms:modified>
</cp:coreProperties>
</file>